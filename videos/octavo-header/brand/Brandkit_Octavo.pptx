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64" d="100"/>
          <a:sy n="64" d="100"/>
        </p:scale>
        <p:origin x="-2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92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casa, ocho titulares, escritura ante notario. Esto es la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bloques: marca, verbal, identidad, color, tipografía, sistema gráfico y aplicaciones.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club, no es multipropiedad, no es alquiler. Es compra con escritura.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principios operativos: números, escala, calendario,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Nosotros para Octavo, tú para quien compra. Frases cortas, números con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marca se define por lo que no 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claims: principal, producto y campaña. Siempre en español con su versión inglesa.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octógono cortado es la O inicial: no se repite encima del nombre, lo sustituye.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versiones sancionadas. Nada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Área de respeto igual al lado del octógono. Cinco usos prohibidos.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fondos, nunca un tercero. Sin beiges. El almagre es el único toque de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55/25/12/8. El acento nunca pasa de una décima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 Serif para titulares, Archivo para todo lo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recursos y ninguno más: anillo de ocho, marco octogonal, banda de 52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Radios, filetes, sombras teñidas. Fotografía de luz real, casas habitadas.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de casa, tarjeta, sello y firma de correo.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claim y contacto de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47750"/>
            <a:ext cx="2711872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06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IDENTIDAD DE MARCA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5994964" y="1047750"/>
            <a:ext cx="1369814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06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V1.0 · 2026</a:t>
            </a:r>
            <a:endParaRPr lang="en-US" sz="1275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2267396"/>
            <a:ext cx="5905500" cy="8872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3764269"/>
            <a:ext cx="16678275" cy="205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14"/>
              </a:lnSpc>
              <a:buNone/>
            </a:pPr>
            <a:r>
              <a:rPr lang="en-US" sz="7800" kern="0" spc="-117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Propiedad real, </a:t>
            </a:r>
            <a:r>
              <a:rPr lang="en-US" sz="7800" i="1" kern="0" spc="-117" dirty="0">
                <a:solidFill>
                  <a:srgbClr val="A834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la medida justa.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127795"/>
            <a:ext cx="9124624" cy="894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319"/>
              </a:lnSpc>
              <a:buNone/>
            </a:pPr>
            <a:r>
              <a:rPr lang="en-US" sz="2175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Compraventa de viviendas en copropiedad por semanas. Una casa, ocho titulares, escritura ante notario.</a:t>
            </a:r>
            <a:endParaRPr lang="en-US" sz="2175" dirty="0"/>
          </a:p>
        </p:txBody>
      </p:sp>
      <p:sp>
        <p:nvSpPr>
          <p:cNvPr id="7" name="Shape 4"/>
          <p:cNvSpPr/>
          <p:nvPr/>
        </p:nvSpPr>
        <p:spPr>
          <a:xfrm>
            <a:off x="1047750" y="8026165"/>
            <a:ext cx="16192500" cy="1213084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Shape 5"/>
          <p:cNvSpPr/>
          <p:nvPr/>
        </p:nvSpPr>
        <p:spPr>
          <a:xfrm>
            <a:off x="1047750" y="9230591"/>
            <a:ext cx="16192500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Shape 6"/>
          <p:cNvSpPr/>
          <p:nvPr/>
        </p:nvSpPr>
        <p:spPr>
          <a:xfrm>
            <a:off x="1047750" y="8026165"/>
            <a:ext cx="16192500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Shape 7"/>
          <p:cNvSpPr/>
          <p:nvPr/>
        </p:nvSpPr>
        <p:spPr>
          <a:xfrm>
            <a:off x="1047750" y="8034824"/>
            <a:ext cx="4041022" cy="1195766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1276336" y="8301497"/>
            <a:ext cx="3942234" cy="449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1/8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276336" y="8808054"/>
            <a:ext cx="3942234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 LA PROPIEDAD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5098242" y="8034824"/>
            <a:ext cx="4041022" cy="1195766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1"/>
          <p:cNvSpPr/>
          <p:nvPr/>
        </p:nvSpPr>
        <p:spPr>
          <a:xfrm>
            <a:off x="5326829" y="8301497"/>
            <a:ext cx="3942234" cy="449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6,5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326829" y="8808054"/>
            <a:ext cx="3942234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SEMANAS AL AÑO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9148735" y="8034824"/>
            <a:ext cx="4041022" cy="1195766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4"/>
          <p:cNvSpPr/>
          <p:nvPr/>
        </p:nvSpPr>
        <p:spPr>
          <a:xfrm>
            <a:off x="9377322" y="8301497"/>
            <a:ext cx="3942234" cy="449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377322" y="8808054"/>
            <a:ext cx="3942234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TITULARES POR CASA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13199228" y="8034824"/>
            <a:ext cx="4041022" cy="1195766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7"/>
          <p:cNvSpPr/>
          <p:nvPr/>
        </p:nvSpPr>
        <p:spPr>
          <a:xfrm>
            <a:off x="13427814" y="8301497"/>
            <a:ext cx="3942234" cy="449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 · EN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3427814" y="8808054"/>
            <a:ext cx="3942234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IDIOMAS DE MARCA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775499"/>
            <a:ext cx="533346" cy="9525"/>
          </a:xfrm>
          <a:prstGeom prst="rect">
            <a:avLst/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3691478"/>
            <a:ext cx="143031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CONTENIDO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4249990"/>
            <a:ext cx="7020121" cy="2383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833"/>
              </a:lnSpc>
              <a:buNone/>
            </a:pPr>
            <a:r>
              <a:rPr lang="en-US" sz="5700" dirty="0">
                <a:solidFill>
                  <a:srgbClr val="EEF0F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Todo lo que hace falta para usar la marca.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8720651" y="3078577"/>
            <a:ext cx="8519531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8720651" y="2510595"/>
            <a:ext cx="5142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9482583" y="2510595"/>
            <a:ext cx="1324794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marca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8720651" y="3902814"/>
            <a:ext cx="8519531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8720651" y="3334832"/>
            <a:ext cx="5142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482583" y="3334832"/>
            <a:ext cx="2234654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Territorio verbal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8720651" y="4727052"/>
            <a:ext cx="8519531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8720651" y="4159069"/>
            <a:ext cx="5142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9482583" y="4159069"/>
            <a:ext cx="2808461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Identidad y logotipo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8720651" y="5551289"/>
            <a:ext cx="8519531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Text 13"/>
          <p:cNvSpPr/>
          <p:nvPr/>
        </p:nvSpPr>
        <p:spPr>
          <a:xfrm>
            <a:off x="8720651" y="4983307"/>
            <a:ext cx="5142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482583" y="4983307"/>
            <a:ext cx="792131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Color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8720651" y="6375526"/>
            <a:ext cx="8519531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8" name="Text 16"/>
          <p:cNvSpPr/>
          <p:nvPr/>
        </p:nvSpPr>
        <p:spPr>
          <a:xfrm>
            <a:off x="8720651" y="5807544"/>
            <a:ext cx="5142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482583" y="5807544"/>
            <a:ext cx="1442070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Tipografía</a:t>
            </a:r>
            <a:endParaRPr lang="en-US" sz="2325" dirty="0"/>
          </a:p>
        </p:txBody>
      </p:sp>
      <p:sp>
        <p:nvSpPr>
          <p:cNvPr id="20" name="Shape 18"/>
          <p:cNvSpPr/>
          <p:nvPr/>
        </p:nvSpPr>
        <p:spPr>
          <a:xfrm>
            <a:off x="8720651" y="7199763"/>
            <a:ext cx="8519531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1" name="Text 19"/>
          <p:cNvSpPr/>
          <p:nvPr/>
        </p:nvSpPr>
        <p:spPr>
          <a:xfrm>
            <a:off x="8720651" y="6631781"/>
            <a:ext cx="5142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482583" y="6631781"/>
            <a:ext cx="2235250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Sistema gráfico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8720651" y="7456018"/>
            <a:ext cx="5142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482583" y="7456018"/>
            <a:ext cx="185015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Aplicaciones</a:t>
            </a:r>
            <a:endParaRPr lang="en-US" sz="23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176659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LA MARCA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758607"/>
            <a:ext cx="8890843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Qué es Octavo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2842144"/>
            <a:ext cx="8325062" cy="1272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8500"/>
              </a:lnSpc>
              <a:buNone/>
            </a:pPr>
            <a:r>
              <a:rPr lang="en-US" sz="2025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Octavo compra casas buenas en sitios buenos —costa, montaña, campo, ciudad, islas— y las divide en ocho partes iguales. Compras una. Escritura, registro y una sociedad que la posee.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4324269"/>
            <a:ext cx="8325062" cy="1272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8500"/>
              </a:lnSpc>
              <a:buNone/>
            </a:pPr>
            <a:r>
              <a:rPr lang="en-US" sz="2025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 titular usa la casa 6,5 semanas al año, en un calendario rotativo. Mantenimiento, seguros, limpieza y suministros se gestionan desde dentro. Tú llegas con la maleta.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892335" y="1758607"/>
            <a:ext cx="7347915" cy="2098747"/>
          </a:xfrm>
          <a:prstGeom prst="roundRect">
            <a:avLst>
              <a:gd name="adj" fmla="val 8169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10281993" y="2148266"/>
            <a:ext cx="7225456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PROPÓSITO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0281993" y="2475553"/>
            <a:ext cx="6765655" cy="103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480"/>
              </a:lnSpc>
              <a:buNone/>
            </a:pPr>
            <a:r>
              <a:rPr lang="en-US" sz="315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 tener una segunda casa vuelva a ser una decisión sensata.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892335" y="4066864"/>
            <a:ext cx="7347915" cy="2098747"/>
          </a:xfrm>
          <a:prstGeom prst="roundRect">
            <a:avLst>
              <a:gd name="adj" fmla="val 8169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0281993" y="4456523"/>
            <a:ext cx="7225456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PROMESA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281993" y="4783809"/>
            <a:ext cx="6765655" cy="103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480"/>
              </a:lnSpc>
              <a:buNone/>
            </a:pPr>
            <a:r>
              <a:rPr lang="en-US" sz="315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Pagas la parte que usas. Posees la parte que pagas.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892335" y="6375120"/>
            <a:ext cx="7347915" cy="1832209"/>
          </a:xfrm>
          <a:prstGeom prst="roundRect">
            <a:avLst>
              <a:gd name="adj" fmla="val 9358"/>
            </a:avLst>
          </a:prstGeom>
          <a:solidFill>
            <a:srgbClr val="2A2E3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10273335" y="6756120"/>
            <a:ext cx="7244506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PERSONALIDAD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273335" y="7083407"/>
            <a:ext cx="6783492" cy="78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87"/>
              </a:lnSpc>
              <a:buNone/>
            </a:pPr>
            <a:r>
              <a:rPr lang="en-US" sz="1950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Sobrios como una notaría. Cálidos como la casa. Claros como una factura bien hecha.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3440534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LA MARCA · PRINCIPIOS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82434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Los cuatro principios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2880298"/>
            <a:ext cx="16192500" cy="6358952"/>
          </a:xfrm>
          <a:prstGeom prst="rect">
            <a:avLst/>
          </a:prstGeom>
          <a:solidFill>
            <a:srgbClr val="15181C">
              <a:alpha val="14000"/>
            </a:srgbClr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1056409" y="2888957"/>
            <a:ext cx="4036692" cy="6341634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399255" y="3346130"/>
            <a:ext cx="3686100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399255" y="3776446"/>
            <a:ext cx="3686100" cy="403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4"/>
              </a:lnSpc>
              <a:buNone/>
            </a:pPr>
            <a:r>
              <a:rPr lang="en-US" sz="24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Enseñar los números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99255" y="4294571"/>
            <a:ext cx="3451530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15"/>
              </a:lnSpc>
              <a:buNone/>
            </a:pP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Precio, gastos anuales, reventa. Todo antes de que lo pregunten.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02572" y="2888957"/>
            <a:ext cx="4036692" cy="6341634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5445418" y="3346130"/>
            <a:ext cx="3686100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445418" y="3776446"/>
            <a:ext cx="3686100" cy="403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4"/>
              </a:lnSpc>
              <a:buNone/>
            </a:pPr>
            <a:r>
              <a:rPr lang="en-US" sz="24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Ocho, no ochenta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5418" y="4294571"/>
            <a:ext cx="3451530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15"/>
              </a:lnSpc>
              <a:buNone/>
            </a:pP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Pocos titulares, mucho uso. La escala es parte del producto.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148735" y="2888957"/>
            <a:ext cx="4036692" cy="6341634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Text 13"/>
          <p:cNvSpPr/>
          <p:nvPr/>
        </p:nvSpPr>
        <p:spPr>
          <a:xfrm>
            <a:off x="9491581" y="3346130"/>
            <a:ext cx="3686100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9491581" y="3776446"/>
            <a:ext cx="3451530" cy="769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4"/>
              </a:lnSpc>
              <a:buNone/>
            </a:pPr>
            <a:r>
              <a:rPr lang="en-US" sz="24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El calendario es sagrado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91581" y="4660350"/>
            <a:ext cx="3451530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15"/>
              </a:lnSpc>
              <a:buNone/>
            </a:pP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Reparto rotativo, igual para todos, publicado con un año de antelación.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194898" y="2888957"/>
            <a:ext cx="4036692" cy="6341634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7"/>
          <p:cNvSpPr/>
          <p:nvPr/>
        </p:nvSpPr>
        <p:spPr>
          <a:xfrm>
            <a:off x="13537743" y="3346130"/>
            <a:ext cx="3686100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3537743" y="3776446"/>
            <a:ext cx="3686100" cy="403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4"/>
              </a:lnSpc>
              <a:buNone/>
            </a:pPr>
            <a:r>
              <a:rPr lang="en-US" sz="24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casa primero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537743" y="4294571"/>
            <a:ext cx="3451530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15"/>
              </a:lnSpc>
              <a:buNone/>
            </a:pP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Arquitectura, luz y sitio. Si la casa no es buena, no se divide.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3051721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TERRITORIO VERBAL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3988594"/>
            <a:ext cx="8501071" cy="151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EEF0F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Hablamos claro porque no tenemos nada que esconder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5774734"/>
            <a:ext cx="8501071" cy="1272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8500"/>
              </a:lnSpc>
              <a:buNone/>
            </a:pP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Primera persona del plural para Octavo, </a:t>
            </a:r>
            <a:r>
              <a:rPr lang="en-US" sz="2025" i="1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tú </a:t>
            </a: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para quien compra. Frases cortas. Números con unidad. Sin adjetivos de folleto: nada de </a:t>
            </a:r>
            <a:r>
              <a:rPr lang="en-US" sz="2025" i="1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exclusivo</a:t>
            </a: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2025" i="1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único</a:t>
            </a: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2025" i="1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paradisíaco</a:t>
            </a: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2025" i="1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oportunidad</a:t>
            </a: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063216" y="2909725"/>
            <a:ext cx="7176965" cy="5178339"/>
          </a:xfrm>
          <a:prstGeom prst="rect">
            <a:avLst/>
          </a:prstGeom>
          <a:solidFill>
            <a:srgbClr val="EEF0F1">
              <a:alpha val="16000"/>
            </a:srgbClr>
          </a:solidFill>
          <a:ln w="8659">
            <a:solidFill>
              <a:srgbClr val="EEF0F1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Shape 5"/>
          <p:cNvSpPr/>
          <p:nvPr/>
        </p:nvSpPr>
        <p:spPr>
          <a:xfrm>
            <a:off x="10071876" y="2918384"/>
            <a:ext cx="7159647" cy="1714026"/>
          </a:xfrm>
          <a:prstGeom prst="rect">
            <a:avLst/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10414721" y="3242221"/>
            <a:ext cx="712135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DECIMOS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0414721" y="3531421"/>
            <a:ext cx="6668174" cy="815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474"/>
              </a:lnSpc>
              <a:buNone/>
            </a:pPr>
            <a:r>
              <a:rPr lang="en-US" sz="1800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copropiedad · titular · octava parte · escritura · calendario · casa · gastos anuales · reventa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71876" y="4641881"/>
            <a:ext cx="7159647" cy="1714026"/>
          </a:xfrm>
          <a:prstGeom prst="rect">
            <a:avLst/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0414721" y="4965718"/>
            <a:ext cx="712135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DECIMOS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414721" y="5254918"/>
            <a:ext cx="6668174" cy="815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474"/>
              </a:lnSpc>
              <a:buNone/>
            </a:pPr>
            <a:r>
              <a:rPr lang="en-US" sz="1800" dirty="0">
                <a:solidFill>
                  <a:srgbClr val="EEF0F1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multipropiedad · timeshare · socio · miembro · inmueble · activo · producto · cliente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71876" y="6365379"/>
            <a:ext cx="7159647" cy="1714026"/>
          </a:xfrm>
          <a:prstGeom prst="rect">
            <a:avLst/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10414721" y="6689215"/>
            <a:ext cx="712135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LLAMADAS A LA ACCIÓN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414721" y="6978415"/>
            <a:ext cx="6668174" cy="815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474"/>
              </a:lnSpc>
              <a:buNone/>
            </a:pPr>
            <a:r>
              <a:rPr lang="en-US" sz="1800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 las casas · Cómo funciona · Hablar con Octavo · Reservar una visita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397133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TERRITORIO VERBAL · TONO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82434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Así sí, así no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2880298"/>
            <a:ext cx="7905750" cy="6358952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1513582" y="3346130"/>
            <a:ext cx="7671495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2A2E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ASÍ SÍ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340227" y="3768666"/>
            <a:ext cx="7223641" cy="2045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«Una octava parte de la casa. Seis semanas y media al año.»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«Escritura ante notario, como cualquier compra.»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«Los gastos anuales son 3.400 €. Aquí está el desglose.»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«Puedes vender tu octava parte cuando quieras.»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34499" y="2880298"/>
            <a:ext cx="7905750" cy="6358952"/>
          </a:xfrm>
          <a:prstGeom prst="roundRect">
            <a:avLst>
              <a:gd name="adj" fmla="val 2696"/>
            </a:avLst>
          </a:prstGeom>
          <a:solidFill>
            <a:srgbClr val="DCE0E2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9800332" y="3346130"/>
            <a:ext cx="7671495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8A1F1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ASÍ NO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626977" y="3768666"/>
            <a:ext cx="7223641" cy="2045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74"/>
              </a:lnSpc>
              <a:buNone/>
            </a:pPr>
            <a:r>
              <a:rPr lang="en-US" sz="1950" strike="sngStrike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«Vive la experiencia de un lujo sin límites.»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strike="sngStrike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«Multipropiedad de nueva generación.»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strike="sngStrike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«Desde solo 95.000 € ¡plazas limitadas!»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strike="sngStrike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«Invierte en tu felicidad.»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4210571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TERRITORIO VERBAL · CLAIMS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82434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Claims · español e inglés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2880298"/>
            <a:ext cx="5194304" cy="6358952"/>
          </a:xfrm>
          <a:prstGeom prst="roundRect">
            <a:avLst>
              <a:gd name="adj" fmla="val 3301"/>
            </a:avLst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1504923" y="3337471"/>
            <a:ext cx="4707954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70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PRINCIPAL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504923" y="7242517"/>
            <a:ext cx="4408357" cy="1162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69"/>
              </a:lnSpc>
              <a:buNone/>
            </a:pPr>
            <a:r>
              <a:rPr lang="en-US" sz="3750" dirty="0">
                <a:solidFill>
                  <a:srgbClr val="EEF0F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Propiedad real, en la medida justa.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1504923" y="8556940"/>
            <a:ext cx="4707954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EEF0F1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 ownership, in the right measure.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46814" y="2880298"/>
            <a:ext cx="5194304" cy="6358952"/>
          </a:xfrm>
          <a:prstGeom prst="roundRect">
            <a:avLst>
              <a:gd name="adj" fmla="val 3301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7012646" y="3346130"/>
            <a:ext cx="4688904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70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PRODUCTO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012646" y="7233858"/>
            <a:ext cx="4390520" cy="1162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69"/>
              </a:lnSpc>
              <a:buNone/>
            </a:pPr>
            <a:r>
              <a:rPr lang="en-US" sz="375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Una casa. Ocho titulares. Cero letra pequeña.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7012646" y="8548281"/>
            <a:ext cx="4688904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house. Eight owners. No fine print.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2045878" y="2880298"/>
            <a:ext cx="5194372" cy="6358952"/>
          </a:xfrm>
          <a:prstGeom prst="roundRect">
            <a:avLst>
              <a:gd name="adj" fmla="val 3301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12511710" y="3346130"/>
            <a:ext cx="4688979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70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CAMPAÑA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511710" y="7233858"/>
            <a:ext cx="4390589" cy="1162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69"/>
              </a:lnSpc>
              <a:buNone/>
            </a:pPr>
            <a:r>
              <a:rPr lang="en-US" sz="375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Nadie necesita doce meses de casa.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12511710" y="8548281"/>
            <a:ext cx="4688979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Nobody needs a house twelve months a year.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269145"/>
            <a:ext cx="533346" cy="9525"/>
          </a:xfrm>
          <a:prstGeom prst="rect">
            <a:avLst/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3185125"/>
            <a:ext cx="1857598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IDENTIDAD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3743636"/>
            <a:ext cx="8434387" cy="805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299"/>
              </a:lnSpc>
              <a:buNone/>
            </a:pPr>
            <a:r>
              <a:rPr lang="en-US" sz="5700" dirty="0">
                <a:solidFill>
                  <a:srgbClr val="EEF0F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octógono cortado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4815740"/>
            <a:ext cx="7897654" cy="86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8500"/>
              </a:lnSpc>
              <a:buNone/>
            </a:pP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Ocho lados y un corte limpio. Falta una parte: la octava que se vende, y la puerta por la que se entra.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5867346"/>
            <a:ext cx="7897654" cy="1272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8500"/>
              </a:lnSpc>
              <a:buNone/>
            </a:pP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El corte es un vacío, nunca una línea dibujada, y jamás sobresale del perímetro. El octógono hace de </a:t>
            </a:r>
            <a:r>
              <a:rPr lang="en-US" sz="2025" b="1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inicial </a:t>
            </a:r>
            <a:r>
              <a:rPr lang="en-US" sz="2025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del logotipo: lo sustituye, no se coloca encima.</a:t>
            </a:r>
            <a:endParaRPr lang="en-US" sz="2025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02FD345E-C14E-FAE9-4632-CE514D032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4642" y="2508250"/>
            <a:ext cx="5283200" cy="527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3502521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IDENTIDAD · VERSIONES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44348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Versiones sancionadas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2804125"/>
            <a:ext cx="3848086" cy="6435125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36" y="5510429"/>
            <a:ext cx="2633446" cy="395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6409" y="8603753"/>
            <a:ext cx="3830768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1304059" y="8821962"/>
            <a:ext cx="3450391" cy="23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Tinta sobre yeso</a:t>
            </a:r>
            <a:endParaRPr lang="en-US" sz="1425" dirty="0"/>
          </a:p>
        </p:txBody>
      </p:sp>
      <p:sp>
        <p:nvSpPr>
          <p:cNvPr id="9" name="Shape 6"/>
          <p:cNvSpPr/>
          <p:nvPr/>
        </p:nvSpPr>
        <p:spPr>
          <a:xfrm>
            <a:off x="5162509" y="2804125"/>
            <a:ext cx="3848154" cy="6435125"/>
          </a:xfrm>
          <a:prstGeom prst="roundRect">
            <a:avLst>
              <a:gd name="adj" fmla="val 4455"/>
            </a:avLst>
          </a:prstGeom>
          <a:solidFill>
            <a:srgbClr val="15181C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795" y="5510429"/>
            <a:ext cx="2633514" cy="395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71168" y="8603753"/>
            <a:ext cx="3830836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8"/>
          <p:cNvSpPr/>
          <p:nvPr/>
        </p:nvSpPr>
        <p:spPr>
          <a:xfrm>
            <a:off x="5418818" y="8821962"/>
            <a:ext cx="3450461" cy="23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EF0F1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Yeso sobre basalto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9277336" y="2804125"/>
            <a:ext cx="3848086" cy="6435125"/>
          </a:xfrm>
          <a:prstGeom prst="roundRect">
            <a:avLst>
              <a:gd name="adj" fmla="val 4455"/>
            </a:avLst>
          </a:prstGeom>
          <a:solidFill>
            <a:srgbClr val="DCE0E2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22" y="5510429"/>
            <a:ext cx="2633446" cy="3956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285995" y="8603753"/>
            <a:ext cx="3830768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Text 11"/>
          <p:cNvSpPr/>
          <p:nvPr/>
        </p:nvSpPr>
        <p:spPr>
          <a:xfrm>
            <a:off x="9533645" y="8821962"/>
            <a:ext cx="3450391" cy="23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Tinta sobre ceniza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13392095" y="2804125"/>
            <a:ext cx="3848154" cy="6435125"/>
          </a:xfrm>
          <a:prstGeom prst="roundRect">
            <a:avLst>
              <a:gd name="adj" fmla="val 4455"/>
            </a:avLst>
          </a:prstGeom>
          <a:solidFill>
            <a:srgbClr val="2A2E33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7613" y="5110825"/>
            <a:ext cx="1197052" cy="119488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400754" y="8603753"/>
            <a:ext cx="3830836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4"/>
          <p:cNvSpPr/>
          <p:nvPr/>
        </p:nvSpPr>
        <p:spPr>
          <a:xfrm>
            <a:off x="13648404" y="8821962"/>
            <a:ext cx="3450461" cy="23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EF0F1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Isotipo · app y sello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4988942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IDENTIDAD · CONSTRUCCIÓN Y USOS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1047750" y="1606261"/>
            <a:ext cx="7905750" cy="5628950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1437409" y="1995920"/>
            <a:ext cx="7126431" cy="3973305"/>
          </a:xfrm>
          <a:prstGeom prst="rect">
            <a:avLst/>
          </a:prstGeom>
          <a:ln w="8659">
            <a:solidFill>
              <a:srgbClr val="A8341F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965" y="3268198"/>
            <a:ext cx="1431321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7409" y="6216821"/>
            <a:ext cx="7340224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15"/>
              </a:lnSpc>
              <a:buNone/>
            </a:pP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Área de respeto: el margen libre equivale al </a:t>
            </a:r>
            <a:r>
              <a:rPr lang="en-US" sz="165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lado del octógono </a:t>
            </a: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 los cuatro costados. Nada entra ahí.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334499" y="1606261"/>
            <a:ext cx="7905750" cy="5628950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62" y="2158549"/>
            <a:ext cx="267146" cy="2666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86059" y="2539481"/>
            <a:ext cx="509019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 px</a:t>
            </a:r>
            <a:endParaRPr lang="en-US" sz="142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0324" y="2181955"/>
            <a:ext cx="1619250" cy="2432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91093" y="2539481"/>
            <a:ext cx="121771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170 px · digital</a:t>
            </a:r>
            <a:endParaRPr lang="en-US" sz="142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2920" y="1995920"/>
            <a:ext cx="2857500" cy="4293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534155" y="2539481"/>
            <a:ext cx="1474961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34 mm · impreso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9724159" y="6274932"/>
            <a:ext cx="7126431" cy="9525"/>
          </a:xfrm>
          <a:prstGeom prst="rect">
            <a:avLst/>
          </a:prstGeom>
          <a:solidFill>
            <a:srgbClr val="15181C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Text 10"/>
          <p:cNvSpPr/>
          <p:nvPr/>
        </p:nvSpPr>
        <p:spPr>
          <a:xfrm>
            <a:off x="9724159" y="6531241"/>
            <a:ext cx="7340224" cy="35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15"/>
              </a:lnSpc>
              <a:buNone/>
            </a:pP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Tamaños mínimos. Por debajo de 170 px de ancho se usa solo el isotipo.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1047750" y="7616211"/>
            <a:ext cx="16192500" cy="1623038"/>
          </a:xfrm>
          <a:prstGeom prst="rect">
            <a:avLst/>
          </a:prstGeom>
          <a:solidFill>
            <a:srgbClr val="15181C">
              <a:alpha val="14000"/>
            </a:srgbClr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Shape 12"/>
          <p:cNvSpPr/>
          <p:nvPr/>
        </p:nvSpPr>
        <p:spPr>
          <a:xfrm>
            <a:off x="1056409" y="7624871"/>
            <a:ext cx="3227405" cy="160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">
            <a:off x="2403412" y="7958150"/>
            <a:ext cx="533400" cy="533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04005" y="8729649"/>
            <a:ext cx="3005435" cy="29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217"/>
              </a:lnSpc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rotar.</a:t>
            </a:r>
            <a:endParaRPr lang="en-US" sz="1425" dirty="0"/>
          </a:p>
        </p:txBody>
      </p:sp>
      <p:sp>
        <p:nvSpPr>
          <p:cNvPr id="21" name="Shape 14"/>
          <p:cNvSpPr/>
          <p:nvPr/>
        </p:nvSpPr>
        <p:spPr>
          <a:xfrm>
            <a:off x="4293285" y="7624871"/>
            <a:ext cx="3227473" cy="160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440" y="8034351"/>
            <a:ext cx="819096" cy="3810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540881" y="8729649"/>
            <a:ext cx="3005509" cy="29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217"/>
              </a:lnSpc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deformar.</a:t>
            </a:r>
            <a:endParaRPr lang="en-US" sz="1425" dirty="0"/>
          </a:p>
        </p:txBody>
      </p:sp>
      <p:sp>
        <p:nvSpPr>
          <p:cNvPr id="24" name="Shape 16"/>
          <p:cNvSpPr/>
          <p:nvPr/>
        </p:nvSpPr>
        <p:spPr>
          <a:xfrm>
            <a:off x="7530229" y="7624871"/>
            <a:ext cx="3227473" cy="160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5" name="Shape 17"/>
          <p:cNvSpPr/>
          <p:nvPr/>
        </p:nvSpPr>
        <p:spPr>
          <a:xfrm>
            <a:off x="7777825" y="7872467"/>
            <a:ext cx="2732281" cy="704836"/>
          </a:xfrm>
          <a:prstGeom prst="rect">
            <a:avLst/>
          </a:prstGeom>
          <a:gradFill rotWithShape="1">
            <a:gsLst>
              <a:gs pos="0">
                <a:srgbClr val="E0764F">
                  <a:alpha val="100000"/>
                </a:srgbClr>
              </a:gs>
              <a:gs pos="100000">
                <a:srgbClr val="2A2E33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785" y="7958178"/>
            <a:ext cx="534293" cy="53334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777825" y="8729649"/>
            <a:ext cx="3005509" cy="29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217"/>
              </a:lnSpc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Sin degradados detrás.</a:t>
            </a:r>
            <a:endParaRPr lang="en-US" sz="1425" dirty="0"/>
          </a:p>
        </p:txBody>
      </p:sp>
      <p:sp>
        <p:nvSpPr>
          <p:cNvPr id="28" name="Shape 19"/>
          <p:cNvSpPr/>
          <p:nvPr/>
        </p:nvSpPr>
        <p:spPr>
          <a:xfrm>
            <a:off x="10767173" y="7624871"/>
            <a:ext cx="3227473" cy="160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3729" y="7958178"/>
            <a:ext cx="534293" cy="53334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1014770" y="8729649"/>
            <a:ext cx="3005509" cy="29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217"/>
              </a:lnSpc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Sin sombras ni relieves.</a:t>
            </a:r>
            <a:endParaRPr lang="en-US" sz="1425" dirty="0"/>
          </a:p>
        </p:txBody>
      </p:sp>
      <p:sp>
        <p:nvSpPr>
          <p:cNvPr id="31" name="Shape 21"/>
          <p:cNvSpPr/>
          <p:nvPr/>
        </p:nvSpPr>
        <p:spPr>
          <a:xfrm>
            <a:off x="14004117" y="7624871"/>
            <a:ext cx="3227473" cy="160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2" name="Text 22"/>
          <p:cNvSpPr/>
          <p:nvPr/>
        </p:nvSpPr>
        <p:spPr>
          <a:xfrm>
            <a:off x="15063841" y="7978067"/>
            <a:ext cx="1184158" cy="531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3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Octavo</a:t>
            </a:r>
            <a:endParaRPr lang="en-US" sz="3000" dirty="0"/>
          </a:p>
        </p:txBody>
      </p:sp>
      <p:sp>
        <p:nvSpPr>
          <p:cNvPr id="33" name="Text 23"/>
          <p:cNvSpPr/>
          <p:nvPr/>
        </p:nvSpPr>
        <p:spPr>
          <a:xfrm>
            <a:off x="14251713" y="8729649"/>
            <a:ext cx="3005509" cy="29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217"/>
              </a:lnSpc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reescribir el logotipo.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135850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COLOR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06261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Contraste, no decoración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2556461"/>
            <a:ext cx="13147589" cy="80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000"/>
              </a:lnSpc>
              <a:buNone/>
            </a:pPr>
            <a:r>
              <a:rPr lang="en-US" sz="1950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Yeso, basalto, grafito y almagre. Dos fondos posibles —yeso y basalto— y nunca un tercero. Sin beiges: el fondo es un gris frío para que la tinta y el almagre corten.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705144"/>
            <a:ext cx="3890976" cy="2662265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Shape 5"/>
          <p:cNvSpPr/>
          <p:nvPr/>
        </p:nvSpPr>
        <p:spPr>
          <a:xfrm>
            <a:off x="1056409" y="3713803"/>
            <a:ext cx="3873658" cy="1856157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Shape 6"/>
          <p:cNvSpPr/>
          <p:nvPr/>
        </p:nvSpPr>
        <p:spPr>
          <a:xfrm>
            <a:off x="1056409" y="5569960"/>
            <a:ext cx="3873658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1265919" y="5741383"/>
            <a:ext cx="3800103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5919" y="5988167"/>
            <a:ext cx="3800103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#EEF0F1 · fondo primario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5148235" y="3705144"/>
            <a:ext cx="3890976" cy="2662265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Shape 10"/>
          <p:cNvSpPr/>
          <p:nvPr/>
        </p:nvSpPr>
        <p:spPr>
          <a:xfrm>
            <a:off x="5156895" y="3713803"/>
            <a:ext cx="3873658" cy="1856157"/>
          </a:xfrm>
          <a:prstGeom prst="rect">
            <a:avLst/>
          </a:prstGeom>
          <a:solidFill>
            <a:srgbClr val="DCE0E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Shape 11"/>
          <p:cNvSpPr/>
          <p:nvPr/>
        </p:nvSpPr>
        <p:spPr>
          <a:xfrm>
            <a:off x="5156895" y="5569960"/>
            <a:ext cx="3873658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5366404" y="5741383"/>
            <a:ext cx="3800103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Ceniza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66404" y="5988167"/>
            <a:ext cx="3800103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#DCE0E2 · superficies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248720" y="3705144"/>
            <a:ext cx="3890976" cy="2662265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Shape 15"/>
          <p:cNvSpPr/>
          <p:nvPr/>
        </p:nvSpPr>
        <p:spPr>
          <a:xfrm>
            <a:off x="9257380" y="3713803"/>
            <a:ext cx="3873658" cy="1856157"/>
          </a:xfrm>
          <a:prstGeom prst="rect">
            <a:avLst/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8" name="Shape 16"/>
          <p:cNvSpPr/>
          <p:nvPr/>
        </p:nvSpPr>
        <p:spPr>
          <a:xfrm>
            <a:off x="9257380" y="5569960"/>
            <a:ext cx="3873658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7"/>
          <p:cNvSpPr/>
          <p:nvPr/>
        </p:nvSpPr>
        <p:spPr>
          <a:xfrm>
            <a:off x="9466889" y="5741383"/>
            <a:ext cx="3800103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Basalto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66889" y="5988167"/>
            <a:ext cx="3800103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#15181C · tinta y fondo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3349206" y="3705144"/>
            <a:ext cx="3891044" cy="2662265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Shape 20"/>
          <p:cNvSpPr/>
          <p:nvPr/>
        </p:nvSpPr>
        <p:spPr>
          <a:xfrm>
            <a:off x="13357865" y="3713803"/>
            <a:ext cx="3873725" cy="1856157"/>
          </a:xfrm>
          <a:prstGeom prst="rect">
            <a:avLst/>
          </a:prstGeom>
          <a:solidFill>
            <a:srgbClr val="2A2E3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3" name="Shape 21"/>
          <p:cNvSpPr/>
          <p:nvPr/>
        </p:nvSpPr>
        <p:spPr>
          <a:xfrm>
            <a:off x="13357865" y="5569960"/>
            <a:ext cx="3873725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4" name="Text 22"/>
          <p:cNvSpPr/>
          <p:nvPr/>
        </p:nvSpPr>
        <p:spPr>
          <a:xfrm>
            <a:off x="13567374" y="5741383"/>
            <a:ext cx="3800177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Grafito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567374" y="5988167"/>
            <a:ext cx="3800177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#2A2E33 · paneles y datos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047750" y="6576918"/>
            <a:ext cx="3890976" cy="2662332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Shape 25"/>
          <p:cNvSpPr/>
          <p:nvPr/>
        </p:nvSpPr>
        <p:spPr>
          <a:xfrm>
            <a:off x="1056409" y="6585577"/>
            <a:ext cx="3873658" cy="18562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8" name="Shape 26"/>
          <p:cNvSpPr/>
          <p:nvPr/>
        </p:nvSpPr>
        <p:spPr>
          <a:xfrm>
            <a:off x="1056409" y="8441802"/>
            <a:ext cx="3873658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1265919" y="8613224"/>
            <a:ext cx="3800103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Almagre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65919" y="8860009"/>
            <a:ext cx="3800103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#A8341F · acento sobre yeso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5148235" y="6576918"/>
            <a:ext cx="3890976" cy="2662332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2" name="Shape 30"/>
          <p:cNvSpPr/>
          <p:nvPr/>
        </p:nvSpPr>
        <p:spPr>
          <a:xfrm>
            <a:off x="5156895" y="6585577"/>
            <a:ext cx="3873658" cy="1856225"/>
          </a:xfrm>
          <a:prstGeom prst="rect">
            <a:avLst/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3" name="Shape 31"/>
          <p:cNvSpPr/>
          <p:nvPr/>
        </p:nvSpPr>
        <p:spPr>
          <a:xfrm>
            <a:off x="5156895" y="8441802"/>
            <a:ext cx="3873658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4" name="Text 32"/>
          <p:cNvSpPr/>
          <p:nvPr/>
        </p:nvSpPr>
        <p:spPr>
          <a:xfrm>
            <a:off x="5366404" y="8613224"/>
            <a:ext cx="3800103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Barro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66404" y="8860009"/>
            <a:ext cx="3800103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#E0764F · acento sobre basalto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9248720" y="6576918"/>
            <a:ext cx="3890976" cy="2662332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7" name="Shape 35"/>
          <p:cNvSpPr/>
          <p:nvPr/>
        </p:nvSpPr>
        <p:spPr>
          <a:xfrm>
            <a:off x="9257380" y="6585577"/>
            <a:ext cx="3873658" cy="1856225"/>
          </a:xfrm>
          <a:prstGeom prst="rect">
            <a:avLst/>
          </a:prstGeom>
          <a:solidFill>
            <a:srgbClr val="5F646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8" name="Shape 36"/>
          <p:cNvSpPr/>
          <p:nvPr/>
        </p:nvSpPr>
        <p:spPr>
          <a:xfrm>
            <a:off x="9257380" y="8441802"/>
            <a:ext cx="3873658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9466889" y="8613224"/>
            <a:ext cx="3800103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Piedra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466889" y="8860009"/>
            <a:ext cx="3800103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#5F6469 · texto secundario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3349206" y="6576918"/>
            <a:ext cx="3891044" cy="2662332"/>
          </a:xfrm>
          <a:prstGeom prst="roundRect">
            <a:avLst>
              <a:gd name="adj" fmla="val 5009"/>
            </a:avLst>
          </a:prstGeom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2" name="Shape 40"/>
          <p:cNvSpPr/>
          <p:nvPr/>
        </p:nvSpPr>
        <p:spPr>
          <a:xfrm>
            <a:off x="13357865" y="6585577"/>
            <a:ext cx="3873725" cy="1856225"/>
          </a:xfrm>
          <a:prstGeom prst="rect">
            <a:avLst/>
          </a:prstGeom>
          <a:solidFill>
            <a:srgbClr val="8A1F1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3" name="Shape 41"/>
          <p:cNvSpPr/>
          <p:nvPr/>
        </p:nvSpPr>
        <p:spPr>
          <a:xfrm>
            <a:off x="13357865" y="8441802"/>
            <a:ext cx="3873725" cy="788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4" name="Text 42"/>
          <p:cNvSpPr/>
          <p:nvPr/>
        </p:nvSpPr>
        <p:spPr>
          <a:xfrm>
            <a:off x="13567374" y="8613224"/>
            <a:ext cx="3800177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Granza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567374" y="8860009"/>
            <a:ext cx="3800177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#8A1F14 · errores y avisos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2577182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COLOR · REGLAS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82434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EEF0F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Proporción y reglas duras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2880298"/>
            <a:ext cx="3996035" cy="666750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5043785" y="2880298"/>
            <a:ext cx="1816380" cy="666750"/>
          </a:xfrm>
          <a:prstGeom prst="rect">
            <a:avLst/>
          </a:prstGeom>
          <a:solidFill>
            <a:srgbClr val="2A2E3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Shape 5"/>
          <p:cNvSpPr/>
          <p:nvPr/>
        </p:nvSpPr>
        <p:spPr>
          <a:xfrm>
            <a:off x="6860164" y="2880298"/>
            <a:ext cx="871862" cy="666750"/>
          </a:xfrm>
          <a:prstGeom prst="rect">
            <a:avLst/>
          </a:prstGeom>
          <a:solidFill>
            <a:srgbClr val="5F646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Shape 6"/>
          <p:cNvSpPr/>
          <p:nvPr/>
        </p:nvSpPr>
        <p:spPr>
          <a:xfrm>
            <a:off x="7732027" y="2880298"/>
            <a:ext cx="581241" cy="666750"/>
          </a:xfrm>
          <a:prstGeom prst="rect">
            <a:avLst/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1047750" y="3794643"/>
            <a:ext cx="7483484" cy="746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579"/>
              </a:lnSpc>
              <a:buNone/>
            </a:pPr>
            <a:r>
              <a:rPr lang="en-US" sz="1800" dirty="0">
                <a:solidFill>
                  <a:srgbClr val="EEF0F1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55% yeso · 25% basalto · 12% grafito · 8% almagre. El acento nunca ocupa más de una décima parte de la composición.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11413" y="2880298"/>
            <a:ext cx="8604969" cy="3116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Barro solo sobre basalto o grafito; sobre yeso se usa almagre.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Texto de lectura: basalto sobre yeso, yeso sobre basalto. Nunca almagre en párrafos largos.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Granza no decora: solo error, aviso o dato negativo.</a:t>
            </a:r>
            <a:endParaRPr lang="en-US" sz="1950" dirty="0"/>
          </a:p>
          <a:p>
            <a:pPr marL="0" indent="0" algn="l">
              <a:lnSpc>
                <a:spcPct val="133774"/>
              </a:lnSpc>
              <a:buNone/>
            </a:pPr>
            <a:r>
              <a:rPr lang="en-US" sz="1950" dirty="0">
                <a:solidFill>
                  <a:srgbClr val="EEF0F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Prohibidos los degradados de marca. El color es plano.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202272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· TIPOGRAFÍA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1047750" y="1606261"/>
            <a:ext cx="7943836" cy="2274703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Text 3"/>
          <p:cNvSpPr/>
          <p:nvPr/>
        </p:nvSpPr>
        <p:spPr>
          <a:xfrm>
            <a:off x="1437409" y="1995920"/>
            <a:ext cx="1136194" cy="115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194"/>
              </a:lnSpc>
              <a:buNone/>
            </a:pPr>
            <a:r>
              <a:rPr lang="en-US" sz="975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Aa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2878403" y="2050919"/>
            <a:ext cx="6295876" cy="32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Instrument Serif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878403" y="2455258"/>
            <a:ext cx="5895229" cy="63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882"/>
              </a:lnSpc>
              <a:buNone/>
            </a:pPr>
            <a:r>
              <a:rPr lang="en-US" sz="157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Titulares, claims y cifras grandes. Regular e itálica; nunca bold. Tracking −0.015em a partir de 32px.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296345" y="1606261"/>
            <a:ext cx="7943904" cy="1893703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9686005" y="1995920"/>
            <a:ext cx="1591270" cy="115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765"/>
              </a:lnSpc>
              <a:buNone/>
            </a:pPr>
            <a:r>
              <a:rPr lang="en-US" sz="9750" kern="0" spc="-195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Aa</a:t>
            </a:r>
            <a:endParaRPr lang="en-US" sz="9750" dirty="0"/>
          </a:p>
        </p:txBody>
      </p:sp>
      <p:sp>
        <p:nvSpPr>
          <p:cNvPr id="10" name="Text 8"/>
          <p:cNvSpPr/>
          <p:nvPr/>
        </p:nvSpPr>
        <p:spPr>
          <a:xfrm>
            <a:off x="11513614" y="2050919"/>
            <a:ext cx="5870674" cy="32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Archivo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513614" y="2455258"/>
            <a:ext cx="5497086" cy="63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882"/>
              </a:lnSpc>
              <a:buNone/>
            </a:pPr>
            <a:r>
              <a:rPr lang="en-US" sz="157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Cuerpo, interfaz, tablas y etiquetas. Pesos 300/400/500/600. Cifras tabulares en tablas y calendarios.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47750" y="3880964"/>
            <a:ext cx="16192500" cy="5358286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Shape 11"/>
          <p:cNvSpPr/>
          <p:nvPr/>
        </p:nvSpPr>
        <p:spPr>
          <a:xfrm>
            <a:off x="1056409" y="5243350"/>
            <a:ext cx="16175181" cy="9525"/>
          </a:xfrm>
          <a:prstGeom prst="rect">
            <a:avLst/>
          </a:prstGeom>
          <a:solidFill>
            <a:srgbClr val="15181C">
              <a:alpha val="1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1437409" y="4275697"/>
            <a:ext cx="4648498" cy="75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738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Titular de portada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4899048" y="4699992"/>
            <a:ext cx="2146697" cy="2459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Serif · 104px · −.015em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56409" y="6250037"/>
            <a:ext cx="16175181" cy="9525"/>
          </a:xfrm>
          <a:prstGeom prst="rect">
            <a:avLst/>
          </a:prstGeom>
          <a:solidFill>
            <a:srgbClr val="15181C">
              <a:alpha val="1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1437409" y="5499605"/>
            <a:ext cx="2977307" cy="540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36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Titular de sección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5900255" y="5737730"/>
            <a:ext cx="1026535" cy="2459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Serif · 72px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6409" y="7108910"/>
            <a:ext cx="16175181" cy="9525"/>
          </a:xfrm>
          <a:prstGeom prst="rect">
            <a:avLst/>
          </a:prstGeom>
          <a:solidFill>
            <a:srgbClr val="15181C">
              <a:alpha val="1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1437409" y="6506292"/>
            <a:ext cx="3470597" cy="393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Subtítulo y destacado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5279845" y="6623189"/>
            <a:ext cx="1727820" cy="2459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Archivo 500 · 34px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56409" y="8380444"/>
            <a:ext cx="16175181" cy="9525"/>
          </a:xfrm>
          <a:prstGeom prst="rect">
            <a:avLst/>
          </a:prstGeom>
          <a:solidFill>
            <a:srgbClr val="15181C">
              <a:alpha val="1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3" name="Text 21"/>
          <p:cNvSpPr/>
          <p:nvPr/>
        </p:nvSpPr>
        <p:spPr>
          <a:xfrm>
            <a:off x="1437409" y="7365166"/>
            <a:ext cx="9057245" cy="80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000"/>
              </a:lnSpc>
              <a:buNone/>
            </a:pPr>
            <a:r>
              <a:rPr lang="en-US" sz="1950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Cuerpo de texto. Máximo 62 caracteres por línea, interlineado 1.6, alineado a la izquierda.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5280657" y="7469074"/>
            <a:ext cx="1726927" cy="2459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Archivo 400 · 26px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37409" y="8662676"/>
            <a:ext cx="300826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ETIQUETA Y ANTETÍTULO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4609780" y="8636699"/>
            <a:ext cx="2464891" cy="2459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Archivo 600 · 17px · .22em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2771179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· SISTEMA GRÁFICO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06261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octava parte, siempre visible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2556461"/>
            <a:ext cx="13439751" cy="80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000"/>
              </a:lnSpc>
              <a:buNone/>
            </a:pPr>
            <a:r>
              <a:rPr lang="en-US" sz="1950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Tres recursos y ninguno más: el anillo de ocho para hablar de reparto, el marco octogonal para la fotografía y la banda de 52 semanas para el calendario.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705144"/>
            <a:ext cx="5194304" cy="5534106"/>
          </a:xfrm>
          <a:prstGeom prst="roundRect">
            <a:avLst>
              <a:gd name="adj" fmla="val 3301"/>
            </a:avLst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Shape 5"/>
          <p:cNvSpPr/>
          <p:nvPr/>
        </p:nvSpPr>
        <p:spPr>
          <a:xfrm>
            <a:off x="2454243" y="4124230"/>
            <a:ext cx="2381250" cy="2381250"/>
          </a:xfrm>
          <a:prstGeom prst="ellipse">
            <a:avLst/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243" y="4124230"/>
            <a:ext cx="2381250" cy="238125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1495" y="8191432"/>
            <a:ext cx="4486815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15"/>
              </a:lnSpc>
              <a:buNone/>
            </a:pPr>
            <a:r>
              <a:rPr lang="en-US" sz="1650" dirty="0">
                <a:solidFill>
                  <a:srgbClr val="EEF0F1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Anillo de ocho. Un segmento en barro = tu parte; los otros siete, yeso al 24%.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546814" y="3705144"/>
            <a:ext cx="5194304" cy="5534106"/>
          </a:xfrm>
          <a:prstGeom prst="roundRect">
            <a:avLst>
              <a:gd name="adj" fmla="val 3301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Shape 8"/>
          <p:cNvSpPr/>
          <p:nvPr/>
        </p:nvSpPr>
        <p:spPr>
          <a:xfrm>
            <a:off x="7953307" y="4132889"/>
            <a:ext cx="2381250" cy="2381250"/>
          </a:xfrm>
          <a:prstGeom prst="rect">
            <a:avLst/>
          </a:prstGeom>
          <a:solidFill>
            <a:srgbClr val="DCE0E2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07" y="4132889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9477" y="8182773"/>
            <a:ext cx="4468978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15"/>
              </a:lnSpc>
              <a:buNone/>
            </a:pPr>
            <a:r>
              <a:rPr lang="en-US" sz="1650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Marco octogonal. Solo para retratos de casa y de equipo, nunca planos ni mapas.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12045878" y="3705144"/>
            <a:ext cx="5194372" cy="5534106"/>
          </a:xfrm>
          <a:prstGeom prst="roundRect">
            <a:avLst>
              <a:gd name="adj" fmla="val 3301"/>
            </a:avLst>
          </a:prstGeom>
          <a:solidFill>
            <a:srgbClr val="2A2E3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Shape 11"/>
          <p:cNvSpPr/>
          <p:nvPr/>
        </p:nvSpPr>
        <p:spPr>
          <a:xfrm>
            <a:off x="12464964" y="6019759"/>
            <a:ext cx="494515" cy="1905000"/>
          </a:xfrm>
          <a:prstGeom prst="roundRect">
            <a:avLst>
              <a:gd name="adj" fmla="val 7705"/>
            </a:avLst>
          </a:prstGeom>
          <a:solidFill>
            <a:srgbClr val="E0764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Shape 12"/>
          <p:cNvSpPr/>
          <p:nvPr/>
        </p:nvSpPr>
        <p:spPr>
          <a:xfrm>
            <a:off x="13016575" y="6534163"/>
            <a:ext cx="494583" cy="1390596"/>
          </a:xfrm>
          <a:prstGeom prst="roundRect">
            <a:avLst>
              <a:gd name="adj" fmla="val 7703"/>
            </a:avLst>
          </a:prstGeom>
          <a:solidFill>
            <a:srgbClr val="EEF0F1">
              <a:alpha val="2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Shape 13"/>
          <p:cNvSpPr/>
          <p:nvPr/>
        </p:nvSpPr>
        <p:spPr>
          <a:xfrm>
            <a:off x="13568253" y="6534163"/>
            <a:ext cx="494515" cy="1390596"/>
          </a:xfrm>
          <a:prstGeom prst="roundRect">
            <a:avLst>
              <a:gd name="adj" fmla="val 7705"/>
            </a:avLst>
          </a:prstGeom>
          <a:solidFill>
            <a:srgbClr val="EEF0F1">
              <a:alpha val="2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8" name="Shape 14"/>
          <p:cNvSpPr/>
          <p:nvPr/>
        </p:nvSpPr>
        <p:spPr>
          <a:xfrm>
            <a:off x="14119865" y="6534163"/>
            <a:ext cx="494583" cy="1390596"/>
          </a:xfrm>
          <a:prstGeom prst="roundRect">
            <a:avLst>
              <a:gd name="adj" fmla="val 7703"/>
            </a:avLst>
          </a:prstGeom>
          <a:solidFill>
            <a:srgbClr val="EEF0F1">
              <a:alpha val="2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Shape 15"/>
          <p:cNvSpPr/>
          <p:nvPr/>
        </p:nvSpPr>
        <p:spPr>
          <a:xfrm>
            <a:off x="14671544" y="6534163"/>
            <a:ext cx="494583" cy="1390596"/>
          </a:xfrm>
          <a:prstGeom prst="roundRect">
            <a:avLst>
              <a:gd name="adj" fmla="val 7703"/>
            </a:avLst>
          </a:prstGeom>
          <a:solidFill>
            <a:srgbClr val="EEF0F1">
              <a:alpha val="2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Shape 16"/>
          <p:cNvSpPr/>
          <p:nvPr/>
        </p:nvSpPr>
        <p:spPr>
          <a:xfrm>
            <a:off x="15223222" y="6534163"/>
            <a:ext cx="494583" cy="1390596"/>
          </a:xfrm>
          <a:prstGeom prst="roundRect">
            <a:avLst>
              <a:gd name="adj" fmla="val 7703"/>
            </a:avLst>
          </a:prstGeom>
          <a:solidFill>
            <a:srgbClr val="EEF0F1">
              <a:alpha val="2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1" name="Shape 17"/>
          <p:cNvSpPr/>
          <p:nvPr/>
        </p:nvSpPr>
        <p:spPr>
          <a:xfrm>
            <a:off x="15774901" y="6534163"/>
            <a:ext cx="494583" cy="1390596"/>
          </a:xfrm>
          <a:prstGeom prst="roundRect">
            <a:avLst>
              <a:gd name="adj" fmla="val 7703"/>
            </a:avLst>
          </a:prstGeom>
          <a:solidFill>
            <a:srgbClr val="EEF0F1">
              <a:alpha val="2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2" name="Shape 18"/>
          <p:cNvSpPr/>
          <p:nvPr/>
        </p:nvSpPr>
        <p:spPr>
          <a:xfrm>
            <a:off x="16326580" y="6534163"/>
            <a:ext cx="494583" cy="1390596"/>
          </a:xfrm>
          <a:prstGeom prst="roundRect">
            <a:avLst>
              <a:gd name="adj" fmla="val 7703"/>
            </a:avLst>
          </a:prstGeom>
          <a:solidFill>
            <a:srgbClr val="EEF0F1">
              <a:alpha val="2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3" name="Text 19"/>
          <p:cNvSpPr/>
          <p:nvPr/>
        </p:nvSpPr>
        <p:spPr>
          <a:xfrm>
            <a:off x="12399621" y="8191432"/>
            <a:ext cx="4486885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15"/>
              </a:lnSpc>
              <a:buNone/>
            </a:pPr>
            <a:r>
              <a:rPr lang="en-US" sz="1650" dirty="0">
                <a:solidFill>
                  <a:srgbClr val="EEF0F1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Banda de 52 semanas en ocho tramos de 6,5. Es el gráfico del calendario.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4087118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· SISTEMA GRÁFICO · DETALLE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44348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Formas, fotografía y movimiento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2804125"/>
            <a:ext cx="5143500" cy="9525"/>
          </a:xfrm>
          <a:prstGeom prst="rect">
            <a:avLst/>
          </a:prstGeom>
          <a:solidFill>
            <a:srgbClr val="15181C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1047750" y="3117543"/>
            <a:ext cx="565785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FORMAS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47750" y="3485555"/>
            <a:ext cx="5297805" cy="10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947"/>
              </a:lnSpc>
              <a:buNone/>
            </a:pPr>
            <a:r>
              <a:rPr lang="en-US" sz="1800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Radios 4/8/14/22 px y pill en acciones. Filetes de 1px al 12%. Sombras teñidas de basalto, nunca negras. El octógono recorta, no dibuja contornos.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72250" y="2804125"/>
            <a:ext cx="5143500" cy="9525"/>
          </a:xfrm>
          <a:prstGeom prst="rect">
            <a:avLst/>
          </a:prstGeom>
          <a:solidFill>
            <a:srgbClr val="15181C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6572250" y="3117543"/>
            <a:ext cx="565785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FOTOGRAFÍA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6572250" y="3485555"/>
            <a:ext cx="5297805" cy="1409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947"/>
              </a:lnSpc>
              <a:buNone/>
            </a:pPr>
            <a:r>
              <a:rPr lang="en-US" sz="1800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Luz natural y hora real. Casas habitadas: una mesa puesta, zapatos en la entrada. Personas de espaldas o en plano medio. Sin render ni cielos retocados.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096750" y="2804125"/>
            <a:ext cx="5143500" cy="9525"/>
          </a:xfrm>
          <a:prstGeom prst="rect">
            <a:avLst/>
          </a:prstGeom>
          <a:solidFill>
            <a:srgbClr val="15181C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12096750" y="3117543"/>
            <a:ext cx="565785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ICONOS Y MOVIMIENTO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2096750" y="3485555"/>
            <a:ext cx="5297805" cy="10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947"/>
              </a:lnSpc>
              <a:buNone/>
            </a:pPr>
            <a:r>
              <a:rPr lang="en-US" sz="1800" dirty="0">
                <a:solidFill>
                  <a:srgbClr val="383D4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Iconos lineales 20px, trazo 1.5. Ordinales con cero delante: 01, 02, S+26. Curva única cubic-bezier(.2,.8,.2,1); entrada de fundido + 20px.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31770"/>
            <a:ext cx="533346" cy="9525"/>
          </a:xfrm>
          <a:prstGeom prst="rect">
            <a:avLst/>
          </a:prstGeom>
          <a:solidFill>
            <a:srgbClr val="A8341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771596" y="1047750"/>
            <a:ext cx="2338015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81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· APLICACIONES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47750" y="1606261"/>
            <a:ext cx="17811750" cy="778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45"/>
              </a:lnSpc>
              <a:buNone/>
            </a:pPr>
            <a:r>
              <a:rPr lang="en-US" sz="5400" dirty="0">
                <a:solidFill>
                  <a:srgbClr val="15181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marca aplicada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047750" y="2727952"/>
            <a:ext cx="3848086" cy="651129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1056409" y="2736611"/>
            <a:ext cx="3830768" cy="5905162"/>
          </a:xfrm>
          <a:prstGeom prst="rect">
            <a:avLst/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255" y="3079457"/>
            <a:ext cx="1714500" cy="257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255" y="7549983"/>
            <a:ext cx="3459584" cy="47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772"/>
              </a:lnSpc>
              <a:buNone/>
            </a:pPr>
            <a:r>
              <a:rPr lang="en-US" sz="3000" dirty="0">
                <a:solidFill>
                  <a:srgbClr val="EEF0F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Casa de la Sal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99255" y="8121415"/>
            <a:ext cx="3459584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55" dirty="0">
                <a:solidFill>
                  <a:srgbClr val="E076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CADAQUÉS · 1/8 DISPONIBLE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1056409" y="8641773"/>
            <a:ext cx="3830768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1285009" y="8840932"/>
            <a:ext cx="3488491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Ficha de casa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5162509" y="2727952"/>
            <a:ext cx="3848154" cy="651129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Shape 10"/>
          <p:cNvSpPr/>
          <p:nvPr/>
        </p:nvSpPr>
        <p:spPr>
          <a:xfrm>
            <a:off x="5171168" y="2736611"/>
            <a:ext cx="3830836" cy="5905162"/>
          </a:xfrm>
          <a:prstGeom prst="rect">
            <a:avLst/>
          </a:prstGeom>
          <a:solidFill>
            <a:srgbClr val="EEF0F1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014" y="3079457"/>
            <a:ext cx="438096" cy="4372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45702" y="3079457"/>
            <a:ext cx="21048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OCTAVO HOMES S.L.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5514014" y="7444383"/>
            <a:ext cx="3459658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Nombre Apellido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514014" y="7748263"/>
            <a:ext cx="345965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Dirección de originación</a:t>
            </a:r>
            <a:endParaRPr lang="en-US" sz="1425" dirty="0"/>
          </a:p>
        </p:txBody>
      </p:sp>
      <p:sp>
        <p:nvSpPr>
          <p:cNvPr id="18" name="Text 14"/>
          <p:cNvSpPr/>
          <p:nvPr/>
        </p:nvSpPr>
        <p:spPr>
          <a:xfrm>
            <a:off x="5514014" y="8099767"/>
            <a:ext cx="345965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nombre@octavo.es</a:t>
            </a:r>
            <a:endParaRPr lang="en-US" sz="1425" dirty="0"/>
          </a:p>
        </p:txBody>
      </p:sp>
      <p:sp>
        <p:nvSpPr>
          <p:cNvPr id="19" name="Shape 15"/>
          <p:cNvSpPr/>
          <p:nvPr/>
        </p:nvSpPr>
        <p:spPr>
          <a:xfrm>
            <a:off x="5171168" y="8641773"/>
            <a:ext cx="3830836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6"/>
          <p:cNvSpPr/>
          <p:nvPr/>
        </p:nvSpPr>
        <p:spPr>
          <a:xfrm>
            <a:off x="5399768" y="8840932"/>
            <a:ext cx="3488561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Tarjeta 85×55 mm</a:t>
            </a:r>
            <a:endParaRPr lang="en-US" sz="1425" dirty="0"/>
          </a:p>
        </p:txBody>
      </p:sp>
      <p:sp>
        <p:nvSpPr>
          <p:cNvPr id="21" name="Shape 17"/>
          <p:cNvSpPr/>
          <p:nvPr/>
        </p:nvSpPr>
        <p:spPr>
          <a:xfrm>
            <a:off x="9277336" y="2727952"/>
            <a:ext cx="3848086" cy="651129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Shape 18"/>
          <p:cNvSpPr/>
          <p:nvPr/>
        </p:nvSpPr>
        <p:spPr>
          <a:xfrm>
            <a:off x="9285995" y="2736611"/>
            <a:ext cx="3830768" cy="5905162"/>
          </a:xfrm>
          <a:prstGeom prst="rect">
            <a:avLst/>
          </a:prstGeom>
          <a:solidFill>
            <a:srgbClr val="DCE0E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3" name="Shape 19"/>
          <p:cNvSpPr/>
          <p:nvPr/>
        </p:nvSpPr>
        <p:spPr>
          <a:xfrm>
            <a:off x="10486970" y="4974783"/>
            <a:ext cx="1428750" cy="1428750"/>
          </a:xfrm>
          <a:prstGeom prst="rect">
            <a:avLst/>
          </a:prstGeom>
          <a:solidFill>
            <a:srgbClr val="15181C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970" y="4974783"/>
            <a:ext cx="1428750" cy="142875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285995" y="8641773"/>
            <a:ext cx="3830768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6" name="Text 21"/>
          <p:cNvSpPr/>
          <p:nvPr/>
        </p:nvSpPr>
        <p:spPr>
          <a:xfrm>
            <a:off x="9514595" y="8840932"/>
            <a:ext cx="3488491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Sello octogonal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3392095" y="2727952"/>
            <a:ext cx="3848154" cy="651129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8659">
            <a:solidFill>
              <a:srgbClr val="15181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Text 23"/>
          <p:cNvSpPr/>
          <p:nvPr/>
        </p:nvSpPr>
        <p:spPr>
          <a:xfrm>
            <a:off x="13743601" y="5099934"/>
            <a:ext cx="3459658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8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Nombre Apellido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3743601" y="5460977"/>
            <a:ext cx="345965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Originación · Octavo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13743601" y="5831492"/>
            <a:ext cx="3145144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3601" y="6012318"/>
            <a:ext cx="266673" cy="2661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43610" y="6052299"/>
            <a:ext cx="2380208" cy="224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A834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octavo.es · +34 600 000 000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13400754" y="8641773"/>
            <a:ext cx="3830836" cy="9525"/>
          </a:xfrm>
          <a:prstGeom prst="rect">
            <a:avLst/>
          </a:prstGeom>
          <a:solidFill>
            <a:srgbClr val="15181C">
              <a:alpha val="1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4" name="Text 28"/>
          <p:cNvSpPr/>
          <p:nvPr/>
        </p:nvSpPr>
        <p:spPr>
          <a:xfrm>
            <a:off x="13629354" y="8840932"/>
            <a:ext cx="3488561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F646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Firma de correo</a:t>
            </a:r>
            <a:endParaRPr lang="en-US" sz="14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239379"/>
            <a:ext cx="5334000" cy="8014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4574165"/>
            <a:ext cx="16678275" cy="1958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934"/>
              </a:lnSpc>
              <a:buNone/>
            </a:pPr>
            <a:r>
              <a:rPr lang="en-US" sz="7200" dirty="0">
                <a:solidFill>
                  <a:srgbClr val="EEF0F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Propiedad real, </a:t>
            </a:r>
            <a:r>
              <a:rPr lang="en-US" sz="7200" i="1" dirty="0">
                <a:solidFill>
                  <a:srgbClr val="E0764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la medida justa.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1047750" y="8685947"/>
            <a:ext cx="16192500" cy="9525"/>
          </a:xfrm>
          <a:prstGeom prst="rect">
            <a:avLst/>
          </a:prstGeom>
          <a:solidFill>
            <a:srgbClr val="EEF0F1">
              <a:alpha val="16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Text 2"/>
          <p:cNvSpPr/>
          <p:nvPr/>
        </p:nvSpPr>
        <p:spPr>
          <a:xfrm>
            <a:off x="1047750" y="9018443"/>
            <a:ext cx="6337027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EF0F1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Identidad de marca v1.0 · Octavo Homes S.L. · marca@octavo.es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6017220" y="9018443"/>
            <a:ext cx="1345332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EEF0F1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Madrid · 2026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1546</Words>
  <Application>Microsoft Macintosh PowerPoint</Application>
  <PresentationFormat>Personalizado</PresentationFormat>
  <Paragraphs>215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Archivo</vt:lpstr>
      <vt:lpstr>Arial</vt:lpstr>
      <vt:lpstr>Instrument 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Eddy</cp:lastModifiedBy>
  <cp:revision>2</cp:revision>
  <dcterms:created xsi:type="dcterms:W3CDTF">2026-09-17T10:07:14Z</dcterms:created>
  <dcterms:modified xsi:type="dcterms:W3CDTF">2026-09-17T10:15:22Z</dcterms:modified>
</cp:coreProperties>
</file>